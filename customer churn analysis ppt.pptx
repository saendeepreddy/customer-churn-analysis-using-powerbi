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3" r:id="rId1"/>
  </p:sldMasterIdLst>
  <p:sldIdLst>
    <p:sldId id="294" r:id="rId2"/>
    <p:sldId id="261" r:id="rId3"/>
    <p:sldId id="263" r:id="rId4"/>
    <p:sldId id="268" r:id="rId5"/>
    <p:sldId id="269" r:id="rId6"/>
    <p:sldId id="270" r:id="rId7"/>
    <p:sldId id="271" r:id="rId8"/>
    <p:sldId id="272" r:id="rId9"/>
    <p:sldId id="273" r:id="rId10"/>
    <p:sldId id="295" r:id="rId11"/>
    <p:sldId id="274" r:id="rId12"/>
    <p:sldId id="275" r:id="rId13"/>
    <p:sldId id="296" r:id="rId14"/>
    <p:sldId id="276" r:id="rId15"/>
    <p:sldId id="277" r:id="rId16"/>
    <p:sldId id="278" r:id="rId17"/>
    <p:sldId id="279" r:id="rId18"/>
    <p:sldId id="280" r:id="rId19"/>
    <p:sldId id="281" r:id="rId20"/>
    <p:sldId id="297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8" r:id="rId31"/>
    <p:sldId id="291" r:id="rId32"/>
    <p:sldId id="292" r:id="rId33"/>
    <p:sldId id="293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6DFF08F-DC6B-4601-B491-B0F83F6DD2DA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5449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6DFF08F-DC6B-4601-B491-B0F83F6DD2DA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077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6DFF08F-DC6B-4601-B491-B0F83F6DD2DA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739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6DFF08F-DC6B-4601-B491-B0F83F6DD2DA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768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6DFF08F-DC6B-4601-B491-B0F83F6DD2DA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385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6DFF08F-DC6B-4601-B491-B0F83F6DD2DA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291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6DFF08F-DC6B-4601-B491-B0F83F6DD2DA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593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6DFF08F-DC6B-4601-B491-B0F83F6DD2DA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0270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6DFF08F-DC6B-4601-B491-B0F83F6DD2DA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930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6DFF08F-DC6B-4601-B491-B0F83F6DD2DA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82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759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96DFF08F-DC6B-4601-B491-B0F83F6DD2DA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48123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84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DE7B6-4A01-2A72-8A93-A9062361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57DC3-E7E3-C949-DD4B-4FB668611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D2781-DACC-F280-BBF4-F956C718F9C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Google Shape;98;p1">
            <a:extLst>
              <a:ext uri="{FF2B5EF4-FFF2-40B4-BE49-F238E27FC236}">
                <a16:creationId xmlns:a16="http://schemas.microsoft.com/office/drawing/2014/main" id="{94F0E4BF-36D8-5179-F1B4-AB44852999C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92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F72959-AFE0-C595-21E6-2F5A17DAAEEB}"/>
              </a:ext>
            </a:extLst>
          </p:cNvPr>
          <p:cNvSpPr txBox="1"/>
          <p:nvPr/>
        </p:nvSpPr>
        <p:spPr>
          <a:xfrm>
            <a:off x="2998837" y="4041853"/>
            <a:ext cx="6528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ANALYSIS</a:t>
            </a:r>
          </a:p>
        </p:txBody>
      </p:sp>
    </p:spTree>
    <p:extLst>
      <p:ext uri="{BB962C8B-B14F-4D97-AF65-F5344CB8AC3E}">
        <p14:creationId xmlns:p14="http://schemas.microsoft.com/office/powerpoint/2010/main" val="1530233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88F730-21D8-CFA7-DFDE-D59B2A387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45" y="34410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 Our Team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C5D6E-081C-810B-012C-B518D027F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LE.Dharma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Teja Goud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– 442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BACKGROUND – B.TECH(CSE(DS)) </a:t>
            </a:r>
          </a:p>
          <a:p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T.Sandeep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– 442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– B.TECH(CSE(DS)) </a:t>
            </a:r>
          </a:p>
        </p:txBody>
      </p:sp>
    </p:spTree>
    <p:extLst>
      <p:ext uri="{BB962C8B-B14F-4D97-AF65-F5344CB8AC3E}">
        <p14:creationId xmlns:p14="http://schemas.microsoft.com/office/powerpoint/2010/main" val="2405782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Project introduction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931438"/>
            <a:ext cx="10820400" cy="428724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This Power BI project focuses on analyzing customer churn — that is, understanding which customers are leaving a telecom company and why.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main goal is to identify key factors that drive churn, analyze customer behaviors, and find actionable insights that can help reduce churn and increase customer retention.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Business Goal:</a:t>
            </a:r>
          </a:p>
          <a:p>
            <a:pPr marL="0" indent="0" algn="just">
              <a:buNone/>
            </a:pPr>
            <a:r>
              <a:rPr lang="en-US" dirty="0"/>
              <a:t>     “To help the company understand customer behavior better and design </a:t>
            </a:r>
          </a:p>
          <a:p>
            <a:pPr marL="0" indent="0" algn="just">
              <a:buNone/>
            </a:pPr>
            <a:r>
              <a:rPr lang="en-US" dirty="0"/>
              <a:t>      effective retention strategies to reduce churn and improve long term- </a:t>
            </a:r>
          </a:p>
          <a:p>
            <a:pPr marL="0" indent="0" algn="just">
              <a:buNone/>
            </a:pPr>
            <a:r>
              <a:rPr lang="en-US" dirty="0"/>
              <a:t>      profitability.”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500743"/>
          </a:xfrm>
        </p:spPr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Churn Rate by Senior Citizen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202024"/>
            <a:ext cx="4114800" cy="4320073"/>
          </a:xfrm>
        </p:spPr>
        <p:txBody>
          <a:bodyPr>
            <a:normAutofit lnSpcReduction="10000"/>
          </a:bodyPr>
          <a:lstStyle/>
          <a:p>
            <a:r>
              <a:rPr lang="en-US" sz="1800" b="1" u="sng" dirty="0"/>
              <a:t>Visual Placeholder: </a:t>
            </a:r>
          </a:p>
          <a:p>
            <a:r>
              <a:rPr lang="en-US" sz="1900" dirty="0"/>
              <a:t>Clustered Column Chart showing churn by Senior Citizen (Yes/No)</a:t>
            </a:r>
          </a:p>
          <a:p>
            <a:r>
              <a:rPr lang="en-US" sz="1900" dirty="0"/>
              <a:t>Rows: Senior Label</a:t>
            </a:r>
          </a:p>
          <a:p>
            <a:r>
              <a:rPr lang="en-US" sz="1900" dirty="0"/>
              <a:t>Values: Global(total) Churn Rate</a:t>
            </a:r>
          </a:p>
          <a:p>
            <a:pPr>
              <a:defRPr b="1"/>
            </a:pPr>
            <a:r>
              <a:rPr lang="en-US" sz="1800" u="sng" dirty="0"/>
              <a:t>Interpretation</a:t>
            </a:r>
            <a:r>
              <a:rPr lang="en-US" u="sng" dirty="0"/>
              <a:t>:</a:t>
            </a:r>
          </a:p>
          <a:p>
            <a:pPr>
              <a:defRPr sz="1200"/>
            </a:pPr>
            <a:r>
              <a:rPr lang="en-US" sz="1800" dirty="0"/>
              <a:t>Senior citizens show higher churn — retention offers may help reduce churn.</a:t>
            </a:r>
          </a:p>
          <a:p>
            <a:pPr>
              <a:defRPr sz="1200"/>
            </a:pPr>
            <a:r>
              <a:rPr lang="en-US" sz="1800" b="1" dirty="0"/>
              <a:t>Global Churn Rate:</a:t>
            </a:r>
          </a:p>
          <a:p>
            <a:pPr>
              <a:defRPr sz="1200"/>
            </a:pPr>
            <a:r>
              <a:rPr lang="en-US" sz="1800" dirty="0"/>
              <a:t>Senior-Citizen : 0.7k</a:t>
            </a:r>
          </a:p>
          <a:p>
            <a:pPr>
              <a:defRPr sz="1200"/>
            </a:pPr>
            <a:r>
              <a:rPr lang="en-US" sz="1800" dirty="0"/>
              <a:t>Non-Senior : 4.5k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B9061E-9BB3-D56A-8877-7ECCB8FDA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432" y="2578124"/>
            <a:ext cx="5181600" cy="33212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454090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Churn Distribution by Tenure Range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685800" y="2127381"/>
            <a:ext cx="4114800" cy="4091304"/>
          </a:xfrm>
        </p:spPr>
        <p:txBody>
          <a:bodyPr>
            <a:normAutofit fontScale="55000" lnSpcReduction="20000"/>
          </a:bodyPr>
          <a:lstStyle/>
          <a:p>
            <a:r>
              <a:rPr lang="en-US" b="1" u="sng" dirty="0"/>
              <a:t>Visual Placeholder:</a:t>
            </a:r>
          </a:p>
          <a:p>
            <a:r>
              <a:rPr lang="en-US" dirty="0"/>
              <a:t>Clustered Column Chart with various tenure ranges.</a:t>
            </a:r>
          </a:p>
          <a:p>
            <a:endParaRPr lang="en-US" dirty="0"/>
          </a:p>
          <a:p>
            <a:pPr marL="25400" indent="0">
              <a:buNone/>
            </a:pPr>
            <a:r>
              <a:rPr lang="en-IN" sz="2900" b="1" u="sng" dirty="0"/>
              <a:t>Interpretation: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Customers who are new (0–12 months tenure) have the highest churn rate.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As tenure increases, the churn rate drops significantly.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Long-term customers (48+ months) are much more loyal.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This creates a clear downward trend — churn decreases as tenure increases.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14D596-8204-00CA-CC86-1FCEE28DF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114" y="1689905"/>
            <a:ext cx="6736466" cy="3935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379445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Customer Churn Rate Across Tenure Segments</a:t>
            </a:r>
            <a:endParaRPr lang="en-I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024743"/>
            <a:ext cx="4114800" cy="4193941"/>
          </a:xfrm>
        </p:spPr>
        <p:txBody>
          <a:bodyPr>
            <a:normAutofit fontScale="70000" lnSpcReduction="20000"/>
          </a:bodyPr>
          <a:lstStyle/>
          <a:p>
            <a:r>
              <a:rPr lang="en-US" b="1" u="sng" dirty="0"/>
              <a:t>Visual Placeholder:</a:t>
            </a:r>
          </a:p>
          <a:p>
            <a:r>
              <a:rPr lang="en-US" dirty="0"/>
              <a:t>Clustered Column Chart with various tenure ranges.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u="sng" dirty="0"/>
              <a:t>Interpretation: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dirty="0"/>
              <a:t> The company should focus retention efforts on new customers, as they are the most at risk of churning. 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US" dirty="0"/>
              <a:t> This could include onboarding support, early engagement, or introductory offers to improve stickiness.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5DA182-7C56-139B-74FE-CDA61C947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940" y="1843902"/>
            <a:ext cx="5814060" cy="3170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622041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of Monthly Billing Trends by Customer Tenure</a:t>
            </a:r>
            <a:endParaRPr lang="en-I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146041"/>
            <a:ext cx="4114800" cy="4072643"/>
          </a:xfrm>
        </p:spPr>
        <p:txBody>
          <a:bodyPr>
            <a:normAutofit fontScale="47500" lnSpcReduction="20000"/>
          </a:bodyPr>
          <a:lstStyle/>
          <a:p>
            <a:r>
              <a:rPr lang="en-US" b="1" u="sng" dirty="0"/>
              <a:t>Visual Placeholder:</a:t>
            </a:r>
          </a:p>
          <a:p>
            <a:r>
              <a:rPr lang="en-US" dirty="0"/>
              <a:t>Line Chart with various tenure ranges or tenure months.</a:t>
            </a:r>
          </a:p>
          <a:p>
            <a:r>
              <a:rPr lang="en-US" b="1" u="sng" dirty="0"/>
              <a:t>Interpretation: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sz="3400" dirty="0"/>
              <a:t>Some mid-tenure groups (e.g., 13–24 or 25–36 months) may have slightly higher average charges than the earliest tenure group, but the trend is not strictly upward.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sz="3400" dirty="0"/>
              <a:t>There isn’t a strong correlation between tenure and monthly charges. 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sz="3400" dirty="0"/>
              <a:t>While some new customers pay less and mid-tenure customers slightly more, higher tenure does not necessarily mean higher monthly charges.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800D52-E59C-31AC-8F96-F7B875BBC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17230"/>
            <a:ext cx="6001169" cy="32235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855306"/>
          </a:xfrm>
        </p:spPr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Gender, Tenure and Monthly Charges</a:t>
            </a:r>
            <a:endParaRPr lang="en-I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379307"/>
            <a:ext cx="4114800" cy="3839378"/>
          </a:xfrm>
        </p:spPr>
        <p:txBody>
          <a:bodyPr>
            <a:normAutofit fontScale="55000" lnSpcReduction="20000"/>
          </a:bodyPr>
          <a:lstStyle/>
          <a:p>
            <a:r>
              <a:rPr lang="en-US" b="1" u="sng" dirty="0"/>
              <a:t>Visual Placeholder:</a:t>
            </a:r>
          </a:p>
          <a:p>
            <a:r>
              <a:rPr lang="en-US" dirty="0"/>
              <a:t>Scatter Chart with various tenure ranges or tenure months and monthly charges segmented among gender.</a:t>
            </a:r>
          </a:p>
          <a:p>
            <a:r>
              <a:rPr lang="en-US" b="1" u="sng" dirty="0"/>
              <a:t>Interpretation</a:t>
            </a:r>
            <a:r>
              <a:rPr lang="en-US" b="1" dirty="0"/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 dirty="0"/>
              <a:t>No strong correlation between tenure and monthly charges is observed for either gender.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 dirty="0"/>
              <a:t>Both male and female customers show a wide spread of monthly charges across all tenure segments.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 dirty="0"/>
              <a:t>Some high-paying customers exist in early tenure segments, suggesting that higher charges may or may not prevent early churn.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500" dirty="0"/>
              <a:t>The distribution is similar for both genders, with no significant difference in average charges or tenure patterns between males and females.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4DC88C-8869-6309-783E-40AE28CBA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935350"/>
            <a:ext cx="5886854" cy="29872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895600" y="466532"/>
            <a:ext cx="8610600" cy="737118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rgbClr val="FF0000"/>
                </a:solidFill>
              </a:rPr>
              <a:t>key customer metrics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type="body" idx="1"/>
          </p:nvPr>
        </p:nvSpPr>
        <p:spPr>
          <a:xfrm>
            <a:off x="903394" y="1884784"/>
            <a:ext cx="10602806" cy="4683967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Total Customers: Shows the overall number of customers, dynamically updating when filters for gender or contract type are applied.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Churned Customers: Displays the count of customers who have churned, reflecting the selected segment.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Global Churn Rate: Updates according to the selected gender or contract type, showing which segments are more prone to churn. For example: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Month-to-month contracts typically show higher churn rates.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Churn for male vs female is similar, with slight variations depending on contract type.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Avg. Monthly Charges: Varies across filtered segments; some contract types (like two-year contracts) may show higher average charges.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Avg. Tenure: Helps identify which segments are more loyal; longer-term contracts usually have higher average tenure.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6D6A88-0605-1942-8F82-6B715776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91" y="255639"/>
            <a:ext cx="11294593" cy="588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37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5800" y="1296956"/>
            <a:ext cx="4114800" cy="522514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 Subscription Analysis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685800" y="1903445"/>
            <a:ext cx="4114800" cy="4315239"/>
          </a:xfrm>
        </p:spPr>
        <p:txBody>
          <a:bodyPr>
            <a:normAutofit fontScale="62500" lnSpcReduction="20000"/>
          </a:bodyPr>
          <a:lstStyle/>
          <a:p>
            <a:r>
              <a:rPr lang="en-US" b="1" u="sng" dirty="0"/>
              <a:t>Visual Placeholder:</a:t>
            </a:r>
          </a:p>
          <a:p>
            <a:r>
              <a:rPr lang="en-US" dirty="0"/>
              <a:t> Donut Chart showing Phone service distribution with subscription level.</a:t>
            </a:r>
          </a:p>
          <a:p>
            <a:endParaRPr lang="en-US" dirty="0"/>
          </a:p>
          <a:p>
            <a:r>
              <a:rPr lang="en-US" b="1" u="sng" dirty="0"/>
              <a:t>Interpretation: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This segmentation helps us compare churn behavior and revenue between customers with and without phone service.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Most customers have an active phone service subscription, while a smaller segment does not, allowing us to analyze churn and revenue differences between these groups.</a:t>
            </a:r>
          </a:p>
          <a:p>
            <a:pPr algn="just"/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FEBCDC-1790-37DA-6FCF-32F6CD654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090" y="1878195"/>
            <a:ext cx="4955457" cy="31016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659363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Customer Churn Rate Across Internet Services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267339"/>
            <a:ext cx="4114800" cy="3951345"/>
          </a:xfrm>
        </p:spPr>
        <p:txBody>
          <a:bodyPr>
            <a:normAutofit fontScale="47500" lnSpcReduction="20000"/>
          </a:bodyPr>
          <a:lstStyle/>
          <a:p>
            <a:r>
              <a:rPr lang="en-US" b="1" u="sng" dirty="0"/>
              <a:t>Visual Placeholder:</a:t>
            </a:r>
          </a:p>
          <a:p>
            <a:r>
              <a:rPr lang="en-US" dirty="0"/>
              <a:t> Stacked Column Chart showing churn rate by internet service.</a:t>
            </a:r>
          </a:p>
          <a:p>
            <a:endParaRPr lang="en-US" b="1" dirty="0"/>
          </a:p>
          <a:p>
            <a:r>
              <a:rPr lang="en-US" b="1" u="sng" dirty="0"/>
              <a:t>Interpretation</a:t>
            </a:r>
            <a:r>
              <a:rPr lang="en-US" b="1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Fiber Optic customers have the highest churn rate, indicating they are more likely to leave compared to other internet service types.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DSL customers show a moderate churn rate, lower than Fiber Optic but higher than those without internet.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dirty="0"/>
              <a:t>Customers with No Internet service have the lowest churn rate, suggesting they are more stable in terms of retention.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96793E-C0FD-1BD5-1B0E-826E004ED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89" y="1866764"/>
            <a:ext cx="6292646" cy="31244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9F7B42-03BF-FC17-128B-FE82EBAE2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10" y="422787"/>
            <a:ext cx="10962968" cy="590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02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771331"/>
          </a:xfrm>
        </p:spPr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Add-on Services Used by Churned Customers</a:t>
            </a:r>
            <a:endParaRPr lang="en-I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491273"/>
            <a:ext cx="4114800" cy="3727411"/>
          </a:xfrm>
        </p:spPr>
        <p:txBody>
          <a:bodyPr>
            <a:normAutofit fontScale="77500" lnSpcReduction="20000"/>
          </a:bodyPr>
          <a:lstStyle/>
          <a:p>
            <a:r>
              <a:rPr lang="en-US" b="1" u="sng" dirty="0"/>
              <a:t>Visual Placeholder:</a:t>
            </a:r>
          </a:p>
          <a:p>
            <a:r>
              <a:rPr lang="en-US" dirty="0"/>
              <a:t>Clustered column Chart showing churned customers add on services.</a:t>
            </a:r>
            <a:endParaRPr lang="en-US" b="1" dirty="0"/>
          </a:p>
          <a:p>
            <a:r>
              <a:rPr lang="en-US" b="1" u="sng" dirty="0"/>
              <a:t>Interpretation: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Churned customers are more likely to have fewer add-on services.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Among the add-ons, services like Streaming TV and Streaming Movies appear more common among churned customers, while Tech Support and Online Security are less common, suggesting these may help retain customers.</a:t>
            </a: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E184A5-6279-1581-F7C7-C772EB3A9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599" y="1790558"/>
            <a:ext cx="6437671" cy="32768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715347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Service Count vs Churn: Customer Breakdown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341985"/>
            <a:ext cx="4114800" cy="3876700"/>
          </a:xfrm>
        </p:spPr>
        <p:txBody>
          <a:bodyPr>
            <a:normAutofit fontScale="47500" lnSpcReduction="20000"/>
          </a:bodyPr>
          <a:lstStyle/>
          <a:p>
            <a:r>
              <a:rPr lang="en-US" b="1" u="sng" dirty="0"/>
              <a:t>Visual Placeholder:</a:t>
            </a:r>
          </a:p>
          <a:p>
            <a:r>
              <a:rPr lang="en-US" dirty="0"/>
              <a:t>100% stacked column Chart showing churned customers based on services.</a:t>
            </a:r>
            <a:endParaRPr lang="en-US" b="1" dirty="0"/>
          </a:p>
          <a:p>
            <a:r>
              <a:rPr lang="en-US" b="1" u="sng" dirty="0"/>
              <a:t>Interpretation</a:t>
            </a:r>
            <a:r>
              <a:rPr lang="en-US" b="1" dirty="0"/>
              <a:t>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Customers with fewer subscribed services tend to have a higher likelihood of churn.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Conversely, customers with multiple services bundled together show a lower churn rate, indicating that having more subscriptions increases customer stickiness.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This pattern is consistent across both core services (Phone, Internet) and add-on services (Streaming, Tech Support, etc.).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557C6B-29F4-C725-6333-089A69C61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916" y="1859144"/>
            <a:ext cx="5836254" cy="31397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622041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Churn Rate -Top 15 Service Combination.</a:t>
            </a:r>
            <a:endParaRPr lang="en-I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146041"/>
            <a:ext cx="4114800" cy="4072643"/>
          </a:xfrm>
        </p:spPr>
        <p:txBody>
          <a:bodyPr>
            <a:normAutofit fontScale="85000" lnSpcReduction="10000"/>
          </a:bodyPr>
          <a:lstStyle/>
          <a:p>
            <a:r>
              <a:rPr lang="en-US" b="1" u="sng" dirty="0"/>
              <a:t>Visual Placeholder:</a:t>
            </a:r>
          </a:p>
          <a:p>
            <a:r>
              <a:rPr lang="en-US" dirty="0"/>
              <a:t>Clustered bar Chart showing churned customers Associated with multiple services.</a:t>
            </a:r>
            <a:endParaRPr lang="en-US" b="1" dirty="0"/>
          </a:p>
          <a:p>
            <a:r>
              <a:rPr lang="en-US" b="1" u="sng" dirty="0"/>
              <a:t>Interpretation: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Customers with multiple services bundled together (e.g., Phone + Internet + Add-Ons) tend to have lower churn rates, indicating that service combinations increase loyalty.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Customers with only basic services, particularly Fiber Internet without add-ons, are most likely to churn, while bundled service combinations are linked to lower churn</a:t>
            </a:r>
            <a:r>
              <a:rPr lang="en-US" sz="1400" dirty="0"/>
              <a:t>.</a:t>
            </a:r>
            <a:endParaRPr lang="en-IN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626A89-997F-B10C-4B99-1C5A19540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0" y="1836282"/>
            <a:ext cx="6004989" cy="31854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52940"/>
            <a:ext cx="4114800" cy="737118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Service-Customers &amp; churn</a:t>
            </a:r>
            <a:endParaRPr lang="en-I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090058"/>
            <a:ext cx="4114800" cy="4128627"/>
          </a:xfrm>
        </p:spPr>
        <p:txBody>
          <a:bodyPr>
            <a:normAutofit fontScale="47500" lnSpcReduction="20000"/>
          </a:bodyPr>
          <a:lstStyle/>
          <a:p>
            <a:r>
              <a:rPr lang="en-US" b="1" u="sng" dirty="0"/>
              <a:t>Visual Placeholder</a:t>
            </a:r>
            <a:r>
              <a:rPr lang="en-US" b="1" dirty="0"/>
              <a:t>:</a:t>
            </a:r>
          </a:p>
          <a:p>
            <a:r>
              <a:rPr lang="en-US" dirty="0"/>
              <a:t>Line &amp; clustered column chart used for presenting the internet services by customers and their churn rate.</a:t>
            </a:r>
          </a:p>
          <a:p>
            <a:r>
              <a:rPr lang="en-US" b="1" u="sng" dirty="0"/>
              <a:t>Interpretation</a:t>
            </a:r>
            <a:r>
              <a:rPr lang="en-US" b="1" dirty="0"/>
              <a:t>:</a:t>
            </a:r>
          </a:p>
          <a:p>
            <a:r>
              <a:rPr lang="en-US" b="1" u="sng" dirty="0"/>
              <a:t>Number of Customers by Internet Service: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Fiber Optic: Largest segment of internet users.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DSL: Smaller segment compared to Fiber.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No Internet: Smallest segment.</a:t>
            </a:r>
          </a:p>
          <a:p>
            <a:r>
              <a:rPr lang="en-US" b="1" u="sng" dirty="0"/>
              <a:t>Churn Rate by Internet Service (Simple Churn Rate):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Fiber Optic: Highest churn rate among all segments.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DSL: Moderate churn rate.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No Internet: Lowest churn rate.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556027-F0C7-6A33-D3A9-25212BE13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279" y="1866764"/>
            <a:ext cx="5818271" cy="31244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612710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of Contract Duration on Churn and Customer Base</a:t>
            </a:r>
            <a:endParaRPr lang="en-I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211355"/>
            <a:ext cx="4114800" cy="4007329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5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Visual Placeholder: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1500" dirty="0">
                <a:solidFill>
                  <a:prstClr val="black"/>
                </a:solidFill>
                <a:latin typeface="Century Gothic" panose="020B0502020202020204"/>
              </a:rPr>
              <a:t>Clustered column chart for churn rate associated with contract type.</a:t>
            </a:r>
            <a:endParaRPr kumimoji="0" lang="en-US" sz="15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15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Interpretation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</a:rPr>
              <a:t>Month-to-Month contracts show the highest churn rate — these customers are much more likely to leave since they aren’t tied to a long-term agreement.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</a:rPr>
              <a:t>One-Year contracts have a moderate churn rate, lower than month-to-month but still notable.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sz="1500" dirty="0">
                <a:solidFill>
                  <a:prstClr val="black"/>
                </a:solidFill>
              </a:rPr>
              <a:t>Two-Year contracts show the lowest churn rate, indicating that long-term commitments lead to greater customer loyalty and stability.</a:t>
            </a:r>
            <a:endParaRPr kumimoji="0" lang="en-US" sz="15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9FF2AB-E1FA-4E38-9F68-949AE89C0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11355"/>
            <a:ext cx="5818274" cy="30939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1"/>
            <a:ext cx="4114800" cy="734008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Payment Method-wise Analysis of Total Customers and Churn Rate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258009"/>
            <a:ext cx="4114800" cy="3960675"/>
          </a:xfrm>
        </p:spPr>
        <p:txBody>
          <a:bodyPr>
            <a:normAutofit fontScale="47500" lnSpcReduction="20000"/>
          </a:bodyPr>
          <a:lstStyle/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Visual Placeholder: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Line and clustered column chart for representing the churn rate by payment method.</a:t>
            </a:r>
          </a:p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Interpretation</a:t>
            </a:r>
            <a:r>
              <a:rPr lang="en-US" b="1" dirty="0">
                <a:solidFill>
                  <a:prstClr val="black"/>
                </a:solidFill>
              </a:rPr>
              <a:t>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Electronic Check customers have the highest churn rate, indicating they are more likely to leave compared to users of other payment methods.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Credit Card (automatic) and Bank Transfer (automatic) customers show lower churn rates, suggesting that automatic payments improve retention.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Mailed Check users have a moderate churn rate, positioned between electronic check and auto-payment customers.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9FB36D-7A6A-520E-2195-C6214F34A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661" y="2179186"/>
            <a:ext cx="6088380" cy="30939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04CD76-5635-7F1C-835E-CC9FE0CBF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35" y="304801"/>
            <a:ext cx="10162315" cy="587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17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668694"/>
          </a:xfrm>
        </p:spPr>
        <p:txBody>
          <a:bodyPr>
            <a:no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Contract Type-wise Average Total Charge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258008"/>
            <a:ext cx="4114800" cy="3960677"/>
          </a:xfrm>
        </p:spPr>
        <p:txBody>
          <a:bodyPr>
            <a:normAutofit fontScale="47500" lnSpcReduction="20000"/>
          </a:bodyPr>
          <a:lstStyle/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Visual Placeholder: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Clustered column chart Average total charges associated with contract type.</a:t>
            </a:r>
          </a:p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Interpretation</a:t>
            </a:r>
            <a:r>
              <a:rPr lang="en-US" b="1" dirty="0">
                <a:solidFill>
                  <a:prstClr val="black"/>
                </a:solidFill>
              </a:rPr>
              <a:t>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Two-Year contract customers have the highest average total charges, which makes sense because they’ve stayed longer and paid over more months.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One-Year contract customers show moderate total charges, reflecting their medium-term engagement.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Month-to-Month customers have the lowest average total charges, since they tend to churn early and contribute less revenue overall.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FCDE27-35DB-C5CF-9AB0-EC03B2E89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258008"/>
            <a:ext cx="6111662" cy="31625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547396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Average Monthly Charges and Churn Analysis by Payment Method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136711"/>
            <a:ext cx="4114800" cy="4081974"/>
          </a:xfrm>
        </p:spPr>
        <p:txBody>
          <a:bodyPr>
            <a:normAutofit fontScale="47500" lnSpcReduction="20000"/>
          </a:bodyPr>
          <a:lstStyle/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Visual Placeholder: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100% stacked bar chart monthly charges associated with payment method.</a:t>
            </a:r>
          </a:p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Interpretation</a:t>
            </a:r>
            <a:r>
              <a:rPr lang="en-US" b="1" dirty="0">
                <a:solidFill>
                  <a:prstClr val="black"/>
                </a:solidFill>
              </a:rPr>
              <a:t>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Electronic Check users often show slightly higher average monthly charges, possibly due to choosing flexible, no-contract plans that cost more per month.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Automatic payment users (Credit Card and Bank Transfer) tend to have moderate or slightly lower monthly charges, suggesting they are on longer-term plans with discounted rates.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Mailed Check users generally fall in the mid-range of monthly charges.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C1ED99-1F60-7F5A-6DD4-FFAC1A9AC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940" y="2365869"/>
            <a:ext cx="6443150" cy="325402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743339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Churn Rate and Customer Distribution by Paperless Billing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379307"/>
            <a:ext cx="4114800" cy="3839378"/>
          </a:xfrm>
        </p:spPr>
        <p:txBody>
          <a:bodyPr>
            <a:normAutofit fontScale="47500" lnSpcReduction="20000"/>
          </a:bodyPr>
          <a:lstStyle/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Visual Placeholder: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100% stacked bar chart for representing relationship between paperless billing regarding churn</a:t>
            </a:r>
          </a:p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Interpretation</a:t>
            </a:r>
            <a:r>
              <a:rPr lang="en-US" b="1" dirty="0">
                <a:solidFill>
                  <a:prstClr val="black"/>
                </a:solidFill>
              </a:rPr>
              <a:t>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Customers with Paperless Billing enabled show a higher churn rate compared to those who receive paper bills.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This suggests that paperless billing customers — often associated with month-to-month or online-based payment setups — may be less committed or more price-sensitive.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Customers with non-paperless billing (paper bills) tend to stay longer, possibly due to traditional, long-term contracts.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1B9A49-6DAB-3E1D-9DEF-7B8C16C93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659" y="2095364"/>
            <a:ext cx="5867843" cy="31244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612710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Impact of Contract Duration on Customer Tenure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136711"/>
            <a:ext cx="4114800" cy="4081974"/>
          </a:xfrm>
        </p:spPr>
        <p:txBody>
          <a:bodyPr>
            <a:normAutofit fontScale="47500" lnSpcReduction="20000"/>
          </a:bodyPr>
          <a:lstStyle/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Visual Placeholder: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Clustered column chart for representing contract period with average tenure using different slicers.</a:t>
            </a:r>
          </a:p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Interpretation</a:t>
            </a:r>
            <a:r>
              <a:rPr lang="en-US" b="1" dirty="0">
                <a:solidFill>
                  <a:prstClr val="black"/>
                </a:solidFill>
              </a:rPr>
              <a:t>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Month-to-Month contract customers mostly fall in the lower tenure range — they tend to leave early, with many having less than a year of service.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One-Year contract customers show a more balanced tenure distribution, with many staying between 12–24 months.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Two-Year contract customers have the highest tenures overall, with most staying well beyond 24 months, indicating stronger loyalty and satisfaction.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C89477-8C7A-A8C0-C137-82F61445C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343012"/>
            <a:ext cx="6035458" cy="31778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715347"/>
          </a:xfrm>
        </p:spPr>
        <p:txBody>
          <a:bodyPr>
            <a:noAutofit/>
          </a:bodyPr>
          <a:lstStyle/>
          <a:p>
            <a:r>
              <a:rPr lang="en-IN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Factors Influencing Customer Churn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239347"/>
            <a:ext cx="4114800" cy="3979338"/>
          </a:xfrm>
        </p:spPr>
        <p:txBody>
          <a:bodyPr>
            <a:normAutofit fontScale="47500" lnSpcReduction="20000"/>
          </a:bodyPr>
          <a:lstStyle/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Visual Placeholder: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Key influencers was used based on key drivers of churn </a:t>
            </a:r>
          </a:p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Interpretation</a:t>
            </a:r>
            <a:r>
              <a:rPr lang="en-US" b="1" dirty="0">
                <a:solidFill>
                  <a:prstClr val="black"/>
                </a:solidFill>
              </a:rPr>
              <a:t>:</a:t>
            </a:r>
          </a:p>
          <a:p>
            <a:pPr lvl="0" indent="-4572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Contract Type – Customers on month-to-month contracts have the highest churn risk.</a:t>
            </a:r>
          </a:p>
          <a:p>
            <a:pPr lvl="0" indent="-4572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Tenure – Customers with shorter tenure are significantly more likely to churn.</a:t>
            </a:r>
          </a:p>
          <a:p>
            <a:pPr lvl="0" indent="-4572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Monthly Charges – Higher monthly charges are linked to higher churn, especially among cost-sensitive segments.</a:t>
            </a:r>
          </a:p>
          <a:p>
            <a:pPr lvl="0" indent="-4572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Internet Service Type – Fiber optic users show higher churn than DSL or non-internet customers.</a:t>
            </a:r>
          </a:p>
          <a:p>
            <a:pPr lvl="0" indent="-4572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Payment Method – Electronic check users have higher churn, possibly due to lower commitment or flexibility of cancellation.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E14703-4CD7-5C1C-D68B-C0E1A0B0B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722" y="2743084"/>
            <a:ext cx="5075360" cy="266723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668694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High-Risk Customer Segments for Churn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286001"/>
            <a:ext cx="4114800" cy="3932684"/>
          </a:xfrm>
        </p:spPr>
        <p:txBody>
          <a:bodyPr>
            <a:normAutofit fontScale="40000" lnSpcReduction="20000"/>
          </a:bodyPr>
          <a:lstStyle/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Visual Placeholder: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Clustered bar chart was used based on key segment drivers of churn prediction.</a:t>
            </a:r>
          </a:p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Interpretation</a:t>
            </a:r>
            <a:r>
              <a:rPr lang="en-US" b="1" dirty="0">
                <a:solidFill>
                  <a:prstClr val="black"/>
                </a:solidFill>
              </a:rPr>
              <a:t>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Month-to-Month contract customers – show the highest predicted churn probability, as they can leave at any time.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High Monthly Charge customers – those paying above-average charges are more prone to churn, often due to price dissatisfaction.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Short Tenure customers – new customers (especially 0–12 months) churn more frequently.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Fiber Optic users – show a higher churn likelihood compared to DSL or non-internet customers.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Electronic Check payers – churn rate is notably higher among this payment group.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Senior Citizens – slightly higher churn risk than younger customers.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A204B8-6E09-BB4A-ECFC-6A02AE037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23873"/>
            <a:ext cx="5647945" cy="324092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734008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Churn Revenue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528597"/>
            <a:ext cx="4114800" cy="3690088"/>
          </a:xfrm>
        </p:spPr>
        <p:txBody>
          <a:bodyPr>
            <a:normAutofit fontScale="62500" lnSpcReduction="20000"/>
          </a:bodyPr>
          <a:lstStyle/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Visual Placeholder: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Clustered column chart was used for revenue lost and retained.</a:t>
            </a:r>
          </a:p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Interpretation</a:t>
            </a:r>
            <a:r>
              <a:rPr lang="en-US" b="1" dirty="0">
                <a:solidFill>
                  <a:prstClr val="black"/>
                </a:solidFill>
              </a:rPr>
              <a:t>: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A significant portion of revenue comes from retained customers, which is expected since most customers do not churn.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dirty="0"/>
              <a:t>However, the revenue lost from churned customers is non-negligible, highlighting the need to focus on high-value customers at risk of churning.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B503FB-192D-A7AC-2D8E-5078230A2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47932"/>
            <a:ext cx="6218346" cy="30863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668694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Distribution of AI-Generated Churn Risk Scores</a:t>
            </a:r>
            <a:endParaRPr lang="en-I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313993"/>
            <a:ext cx="4114800" cy="3904692"/>
          </a:xfrm>
        </p:spPr>
        <p:txBody>
          <a:bodyPr>
            <a:normAutofit fontScale="47500" lnSpcReduction="20000"/>
          </a:bodyPr>
          <a:lstStyle/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Visual Placeholder: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Clustered column chart was used for churn predictive analysis risk score for various </a:t>
            </a:r>
            <a:r>
              <a:rPr lang="en-IN" dirty="0"/>
              <a:t>customer</a:t>
            </a:r>
            <a:r>
              <a:rPr lang="en-US" dirty="0">
                <a:solidFill>
                  <a:prstClr val="black"/>
                </a:solidFill>
              </a:rPr>
              <a:t> id.</a:t>
            </a:r>
          </a:p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Interpretation</a:t>
            </a:r>
            <a:r>
              <a:rPr lang="en-US" b="1" dirty="0">
                <a:solidFill>
                  <a:prstClr val="black"/>
                </a:solidFill>
              </a:rPr>
              <a:t>:</a:t>
            </a:r>
          </a:p>
          <a:p>
            <a:pPr lvl="0" indent="-4572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This visual shows the churn risk distribution across our customer base, as predicted by our AI-generated risk score.</a:t>
            </a:r>
          </a:p>
          <a:p>
            <a:pPr lvl="0" indent="-4572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We can see that most customers are at low churn risk, which is positive.</a:t>
            </a:r>
          </a:p>
          <a:p>
            <a:pPr lvl="0" indent="-4572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However, a notable portion falls under medium and high risk — these are the customers who need focused retention actions.</a:t>
            </a:r>
          </a:p>
          <a:p>
            <a:pPr lvl="0" indent="-4572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</a:rPr>
              <a:t>Targeting these high-risk segments can significantly reduce overall churn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01E4E9-6C21-76F1-4812-A9DBD54CF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793" y="2192694"/>
            <a:ext cx="6182221" cy="312447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463420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Churn concentration across segments</a:t>
            </a:r>
            <a:endParaRPr lang="en-IN" sz="2400" b="1" u="sng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85800" y="2108719"/>
            <a:ext cx="4114800" cy="4109966"/>
          </a:xfrm>
        </p:spPr>
        <p:txBody>
          <a:bodyPr>
            <a:normAutofit fontScale="40000" lnSpcReduction="20000"/>
          </a:bodyPr>
          <a:lstStyle/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Visual Placeholder:</a:t>
            </a:r>
          </a:p>
          <a:p>
            <a:pPr lvl="0">
              <a:defRPr/>
            </a:pPr>
            <a:r>
              <a:rPr lang="en-US" dirty="0">
                <a:solidFill>
                  <a:prstClr val="black"/>
                </a:solidFill>
              </a:rPr>
              <a:t>Tree map was used for churn concentration across segments.</a:t>
            </a:r>
          </a:p>
          <a:p>
            <a:pPr lvl="0">
              <a:defRPr/>
            </a:pPr>
            <a:r>
              <a:rPr lang="en-US" b="1" u="sng" dirty="0">
                <a:solidFill>
                  <a:prstClr val="black"/>
                </a:solidFill>
              </a:rPr>
              <a:t>Interpretation</a:t>
            </a:r>
            <a:r>
              <a:rPr lang="en-US" b="1" dirty="0">
                <a:solidFill>
                  <a:prstClr val="black"/>
                </a:solidFill>
              </a:rPr>
              <a:t>:</a:t>
            </a:r>
          </a:p>
          <a:p>
            <a:pPr algn="just"/>
            <a:r>
              <a:rPr lang="en-US" dirty="0"/>
              <a:t>1. Month-to-month contract customers show the highest churn concentration, indicating short-term contracts are more likely to leave.</a:t>
            </a:r>
          </a:p>
          <a:p>
            <a:pPr algn="just"/>
            <a:r>
              <a:rPr lang="en-US" dirty="0"/>
              <a:t>2. Short-tenure customers (tenure ≤ 12 months) contribute disproportionately to churn, highlighting early-stage retention risk.</a:t>
            </a:r>
          </a:p>
          <a:p>
            <a:pPr algn="just"/>
            <a:r>
              <a:rPr lang="en-US" dirty="0"/>
              <a:t>3. Service combinations like no internet service or multiple add-ons can show higher churn in the visualization, suggesting that certain product bundles are linked to churn.</a:t>
            </a:r>
          </a:p>
          <a:p>
            <a:pPr algn="just"/>
            <a:r>
              <a:rPr lang="en-US" dirty="0"/>
              <a:t>4. Payment methods also influence churn: e.g., customers using electronic checks often have higher churn rates than those on automatic payments.</a:t>
            </a:r>
          </a:p>
          <a:p>
            <a:pPr algn="just"/>
            <a:r>
              <a:rPr lang="en-US" dirty="0"/>
              <a:t>5. Segments with paperless billing may show slightly higher churn, but this effect is secondary compared to contract type and tenure.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0A6653-E6BC-1B81-031E-46A4284D3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252" y="2464321"/>
            <a:ext cx="6325036" cy="310922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926A26-2B12-3F16-436E-EBC7B4DAA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74" y="560439"/>
            <a:ext cx="10353368" cy="566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038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Overall Analysis</a:t>
            </a:r>
            <a:endParaRPr lang="en-IN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95085069"/>
              </p:ext>
            </p:extLst>
          </p:nvPr>
        </p:nvGraphicFramePr>
        <p:xfrm>
          <a:off x="688258" y="1825625"/>
          <a:ext cx="10665543" cy="2785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5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5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415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IN" dirty="0"/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Observations</a:t>
                      </a:r>
                      <a:endParaRPr lang="en-IN" dirty="0"/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Business </a:t>
                      </a:r>
                      <a:r>
                        <a:rPr lang="en-US" dirty="0" err="1"/>
                        <a:t>Takeway</a:t>
                      </a:r>
                      <a:endParaRPr lang="en-IN" dirty="0"/>
                    </a:p>
                  </a:txBody>
                  <a:tcPr marL="88864" marR="88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790">
                <a:tc>
                  <a:txBody>
                    <a:bodyPr/>
                    <a:lstStyle/>
                    <a:p>
                      <a:r>
                        <a:rPr lang="en-IN" dirty="0"/>
                        <a:t>Tenure</a:t>
                      </a: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Short-tenure customers churn most</a:t>
                      </a: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 on first-year experience</a:t>
                      </a:r>
                    </a:p>
                  </a:txBody>
                  <a:tcPr marL="88864" marR="88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790">
                <a:tc>
                  <a:txBody>
                    <a:bodyPr/>
                    <a:lstStyle/>
                    <a:p>
                      <a:r>
                        <a:rPr lang="en-IN" dirty="0"/>
                        <a:t>Contract</a:t>
                      </a: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Month-to-month = highest churn</a:t>
                      </a: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Promote annual/biannual contracts</a:t>
                      </a:r>
                    </a:p>
                  </a:txBody>
                  <a:tcPr marL="88864" marR="8886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790">
                <a:tc>
                  <a:txBody>
                    <a:bodyPr/>
                    <a:lstStyle/>
                    <a:p>
                      <a:r>
                        <a:rPr lang="en-IN" dirty="0"/>
                        <a:t>Internet Service </a:t>
                      </a: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Fiber optic = high churn</a:t>
                      </a: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Address service quality &amp; pricing</a:t>
                      </a:r>
                    </a:p>
                  </a:txBody>
                  <a:tcPr marL="88864" marR="8886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790">
                <a:tc>
                  <a:txBody>
                    <a:bodyPr/>
                    <a:lstStyle/>
                    <a:p>
                      <a:r>
                        <a:rPr lang="en-IN" dirty="0"/>
                        <a:t>Support</a:t>
                      </a: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tech support = high churn </a:t>
                      </a:r>
                      <a:endParaRPr lang="en-IN" dirty="0"/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Offer free/discounted support packages</a:t>
                      </a:r>
                      <a:endParaRPr lang="en-IN" dirty="0"/>
                    </a:p>
                  </a:txBody>
                  <a:tcPr marL="88864" marR="8886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1129">
                <a:tc>
                  <a:txBody>
                    <a:bodyPr/>
                    <a:lstStyle/>
                    <a:p>
                      <a:r>
                        <a:rPr lang="en-IN" dirty="0"/>
                        <a:t>Payment &amp; Revenue</a:t>
                      </a:r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Electronic check = high churn </a:t>
                      </a:r>
                    </a:p>
                    <a:p>
                      <a:r>
                        <a:rPr lang="en-US" dirty="0"/>
                        <a:t>Retained customers = high total charges </a:t>
                      </a:r>
                      <a:endParaRPr lang="en-IN" dirty="0"/>
                    </a:p>
                  </a:txBody>
                  <a:tcPr marL="88864" marR="88864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Encourage credit card/auto-pay &amp; Retention = profitability</a:t>
                      </a:r>
                    </a:p>
                  </a:txBody>
                  <a:tcPr marL="88864" marR="8886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Business recommendations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After analyzing all visuals and metrics, it’s clear that customer churn is primarily driven by contract length, technical support availability, and payment experience, not demographics.</a:t>
            </a:r>
          </a:p>
          <a:p>
            <a:r>
              <a:rPr lang="en-US" dirty="0"/>
              <a:t>By focusing on early engagement, loyalty programs, and service improvements, the company can significantly reduce churn and protect revenue.</a:t>
            </a:r>
          </a:p>
          <a:p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1. Focus on early retention: Target customers in their first 12 months with welcome offers and engagement campaigns.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2. Encourage long-term contracts: Provide discounts or benefits for switching from month-to-month to yearly contracts.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3. Improve service experience: Address dissatisfaction with fiber optic services and support quality.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4. Optimize payment systems: Promote convenient payment methods and discourage electronic check usage.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5. Use churn risk insights: Prioritize outreach to high-risk customers for retention offers.</a:t>
            </a:r>
            <a:endParaRPr lang="en-I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3510" y="4800587"/>
            <a:ext cx="5497103" cy="136424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Thank You </a:t>
            </a:r>
            <a:endParaRPr lang="en-IN" sz="5400" dirty="0">
              <a:solidFill>
                <a:srgbClr val="FF0000"/>
              </a:solidFill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idx="1"/>
          </p:nvPr>
        </p:nvSpPr>
        <p:spPr>
          <a:xfrm>
            <a:off x="830425" y="1203649"/>
            <a:ext cx="10673142" cy="3215951"/>
          </a:xfrm>
        </p:spPr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941440"/>
            <a:ext cx="4876800" cy="3478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Innomatics_Project_Report_Template with SQL_Project_Student_Template (1)</Template>
  <TotalTime>144</TotalTime>
  <Words>2374</Words>
  <Application>Microsoft Office PowerPoint</Application>
  <PresentationFormat>Widescreen</PresentationFormat>
  <Paragraphs>241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Century Gothic</vt:lpstr>
      <vt:lpstr>Times New Roman</vt:lpstr>
      <vt:lpstr>Wingdings</vt:lpstr>
      <vt:lpstr>Office Theme</vt:lpstr>
      <vt:lpstr>PowerPoint Presentation</vt:lpstr>
      <vt:lpstr>Meet Our Team</vt:lpstr>
      <vt:lpstr>Project introduction</vt:lpstr>
      <vt:lpstr>Churn Rate by Senior Citizen</vt:lpstr>
      <vt:lpstr>Churn Distribution by Tenure Range</vt:lpstr>
      <vt:lpstr>Customer Churn Rate Across Tenure Segments</vt:lpstr>
      <vt:lpstr>Analysis of Monthly Billing Trends by Customer Tenure</vt:lpstr>
      <vt:lpstr>Gender, Tenure and Monthly Charges</vt:lpstr>
      <vt:lpstr>key customer metrics</vt:lpstr>
      <vt:lpstr>PowerPoint Presentation</vt:lpstr>
      <vt:lpstr>Service Subscription Analysis</vt:lpstr>
      <vt:lpstr>Customer Churn Rate Across Internet Services</vt:lpstr>
      <vt:lpstr>PowerPoint Presentation</vt:lpstr>
      <vt:lpstr>Add-on Services Used by Churned Customers</vt:lpstr>
      <vt:lpstr>Service Count vs Churn: Customer Breakdown</vt:lpstr>
      <vt:lpstr>Churn Rate -Top 15 Service Combination.</vt:lpstr>
      <vt:lpstr>Internet Service-Customers &amp; churn</vt:lpstr>
      <vt:lpstr>Impact of Contract Duration on Churn and Customer Base</vt:lpstr>
      <vt:lpstr>Payment Method-wise Analysis of Total Customers and Churn Rate</vt:lpstr>
      <vt:lpstr>PowerPoint Presentation</vt:lpstr>
      <vt:lpstr>Contract Type-wise Average Total Charge</vt:lpstr>
      <vt:lpstr>Average Monthly Charges and Churn Analysis by Payment Method</vt:lpstr>
      <vt:lpstr>Churn Rate and Customer Distribution by Paperless Billing</vt:lpstr>
      <vt:lpstr>Impact of Contract Duration on Customer Tenure</vt:lpstr>
      <vt:lpstr>Factors Influencing Customer Churn</vt:lpstr>
      <vt:lpstr>High-Risk Customer Segments for Churn</vt:lpstr>
      <vt:lpstr>Churn Revenue Comparison</vt:lpstr>
      <vt:lpstr>Distribution of AI-Generated Churn Risk Scores</vt:lpstr>
      <vt:lpstr>Churn concentration across segments</vt:lpstr>
      <vt:lpstr>PowerPoint Presentation</vt:lpstr>
      <vt:lpstr>Overall Analysis</vt:lpstr>
      <vt:lpstr>Business recommendations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venu bathula</dc:creator>
  <cp:lastModifiedBy>Mukesh</cp:lastModifiedBy>
  <cp:revision>7</cp:revision>
  <dcterms:created xsi:type="dcterms:W3CDTF">2025-10-14T11:38:00Z</dcterms:created>
  <dcterms:modified xsi:type="dcterms:W3CDTF">2026-01-03T04:55:01Z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1FDF2A0F3B5C48F6935214B9893913CA_12</vt:lpwstr>
  </property>
  <property fmtid="{D5CDD505-2E9C-101B-9397-08002B2CF9AE}" pid="3" name="KSOProductBuildVer">
    <vt:lpwstr>1033-12.2.0.23196</vt:lpwstr>
  </property>
</Properties>
</file>